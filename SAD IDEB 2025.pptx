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aleway"/>
      <p:regular r:id="rId44"/>
      <p:bold r:id="rId45"/>
      <p:italic r:id="rId46"/>
      <p:boldItalic r:id="rId47"/>
    </p:embeddedFont>
    <p:embeddedFont>
      <p:font typeface="Lato"/>
      <p:regular r:id="rId48"/>
      <p:bold r:id="rId49"/>
      <p:italic r:id="rId50"/>
      <p:boldItalic r:id="rId51"/>
    </p:embeddedFont>
    <p:embeddedFont>
      <p:font typeface="Raleway Medium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14E65D-D786-4EFE-BD74-4DD6537158FC}">
  <a:tblStyle styleId="{7F14E65D-D786-4EFE-BD74-4DD6537158F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54AEDC7E-0AE8-4EE8-B4B4-DA9BD6F8ACD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8B8DB29-BFBC-49C0-89F8-2F9CEB8ABA3D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aleway-regular.fntdata"/><Relationship Id="rId43" Type="http://schemas.openxmlformats.org/officeDocument/2006/relationships/slide" Target="slides/slide38.xml"/><Relationship Id="rId46" Type="http://schemas.openxmlformats.org/officeDocument/2006/relationships/font" Target="fonts/Raleway-italic.fntdata"/><Relationship Id="rId45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regular.fntdata"/><Relationship Id="rId47" Type="http://schemas.openxmlformats.org/officeDocument/2006/relationships/font" Target="fonts/Raleway-boldItalic.fntdata"/><Relationship Id="rId49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ato-boldItalic.fntdata"/><Relationship Id="rId50" Type="http://schemas.openxmlformats.org/officeDocument/2006/relationships/font" Target="fonts/Lato-italic.fntdata"/><Relationship Id="rId53" Type="http://schemas.openxmlformats.org/officeDocument/2006/relationships/font" Target="fonts/RalewayMedium-bold.fntdata"/><Relationship Id="rId52" Type="http://schemas.openxmlformats.org/officeDocument/2006/relationships/font" Target="fonts/RalewayMedium-regular.fntdata"/><Relationship Id="rId11" Type="http://schemas.openxmlformats.org/officeDocument/2006/relationships/slide" Target="slides/slide6.xml"/><Relationship Id="rId55" Type="http://schemas.openxmlformats.org/officeDocument/2006/relationships/font" Target="fonts/RalewayMedium-boldItalic.fntdata"/><Relationship Id="rId10" Type="http://schemas.openxmlformats.org/officeDocument/2006/relationships/slide" Target="slides/slide5.xml"/><Relationship Id="rId54" Type="http://schemas.openxmlformats.org/officeDocument/2006/relationships/font" Target="fonts/Raleway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d42647fa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9d42647f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d42647fa9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9d42647fa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390d0f0ce_1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a390d0f0c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390d0f0ce_1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a390d0f0c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390d0f0ce_1_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a390d0f0c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390d0f0ce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a390d0f0ce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390d0f0ce_1_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a390d0f0ce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390d0f0ce_1_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a390d0f0ce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390d0f0ce_1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a390d0f0ce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390d0f0ce_2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a390d0f0ce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390d0f0ce_1_4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a390d0f0ce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9125e45d3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a9125e45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390d0f0ce_1_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a390d0f0ce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9564ad6c1_4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a9564ad6c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9125e45d3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9125e45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9714506ed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a9714506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9564ad6c1_4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a9564ad6c1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9564ad6c1_3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a9564ad6c1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5938246" y="2533163"/>
            <a:ext cx="7218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6659861" y="2533163"/>
            <a:ext cx="7218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" y="2533163"/>
            <a:ext cx="7218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721425" y="2533163"/>
            <a:ext cx="52167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idx="1" type="body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▷"/>
              <a:defRPr i="1"/>
            </a:lvl1pPr>
            <a:lvl2pPr indent="-3810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2pPr>
            <a:lvl3pPr indent="-3810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3pPr>
            <a:lvl4pPr indent="-3810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4pPr>
            <a:lvl5pPr indent="-3810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5pPr>
            <a:lvl6pPr indent="-3810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6pPr>
            <a:lvl7pPr indent="-3810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7pPr>
            <a:lvl8pPr indent="-3810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8pPr>
            <a:lvl9pPr indent="-3810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9pPr>
          </a:lstStyle>
          <a:p/>
        </p:txBody>
      </p:sp>
      <p:sp>
        <p:nvSpPr>
          <p:cNvPr id="33" name="Google Shape;33;p5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pt-BR" sz="9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1" i="0" sz="96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5723283" y="1599675"/>
            <a:ext cx="17103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7434177" y="1599675"/>
            <a:ext cx="17103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0" y="1599675"/>
            <a:ext cx="17103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710425" y="1599675"/>
            <a:ext cx="17103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893625" y="1200150"/>
            <a:ext cx="3136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219456" y="1200150"/>
            <a:ext cx="3136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893700" y="1200150"/>
            <a:ext cx="23712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5" name="Google Shape;55;p7"/>
          <p:cNvSpPr txBox="1"/>
          <p:nvPr>
            <p:ph idx="2" type="body"/>
          </p:nvPr>
        </p:nvSpPr>
        <p:spPr>
          <a:xfrm>
            <a:off x="3386404" y="1200150"/>
            <a:ext cx="23712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5879107" y="1200150"/>
            <a:ext cx="23712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893700" y="4649963"/>
            <a:ext cx="6462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">
  <p:cSld name="BLANK_1">
    <p:bg>
      <p:bgPr>
        <a:solidFill>
          <a:schemeClr val="dk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" name="Google Shape;86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b="0" i="0" sz="3200" u="none" cap="none" strike="noStrik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▷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na.ppsilva2@ufrpe.br" TargetMode="External"/><Relationship Id="rId4" Type="http://schemas.openxmlformats.org/officeDocument/2006/relationships/hyperlink" Target="mailto:lucas.matheusalmeida@ufrpe.br" TargetMode="External"/><Relationship Id="rId10" Type="http://schemas.openxmlformats.org/officeDocument/2006/relationships/image" Target="../media/image1.png"/><Relationship Id="rId9" Type="http://schemas.openxmlformats.org/officeDocument/2006/relationships/hyperlink" Target="https://github.com/lucasmatheusalmeida/sad_ideb" TargetMode="External"/><Relationship Id="rId5" Type="http://schemas.openxmlformats.org/officeDocument/2006/relationships/hyperlink" Target="mailto:nicolas.borges@ufrpe.br" TargetMode="External"/><Relationship Id="rId6" Type="http://schemas.openxmlformats.org/officeDocument/2006/relationships/image" Target="../media/image19.png"/><Relationship Id="rId7" Type="http://schemas.openxmlformats.org/officeDocument/2006/relationships/hyperlink" Target="https://basedosdados.org/dataset/96eab476-5d30-459b-82be-f888d4d0d6b9" TargetMode="External"/><Relationship Id="rId8" Type="http://schemas.openxmlformats.org/officeDocument/2006/relationships/hyperlink" Target="https://app.powerbi.com/links/_rYFMWT4or?ctid=a6f74efa-3674-449a-acae-c0a238637504&amp;pbi_source=linkShar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Relationship Id="rId4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ctrTitle"/>
          </p:nvPr>
        </p:nvSpPr>
        <p:spPr>
          <a:xfrm>
            <a:off x="645225" y="1684250"/>
            <a:ext cx="8391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pt-BR" sz="3500"/>
              <a:t>Construção do Data Mart do IDEB</a:t>
            </a:r>
            <a:endParaRPr b="1" sz="3500"/>
          </a:p>
        </p:txBody>
      </p:sp>
      <p:sp>
        <p:nvSpPr>
          <p:cNvPr id="93" name="Google Shape;93;p13"/>
          <p:cNvSpPr txBox="1"/>
          <p:nvPr>
            <p:ph type="ctrTitle"/>
          </p:nvPr>
        </p:nvSpPr>
        <p:spPr>
          <a:xfrm>
            <a:off x="1402775" y="257175"/>
            <a:ext cx="6537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pt-BR" sz="2100">
                <a:solidFill>
                  <a:schemeClr val="dk1"/>
                </a:solidFill>
              </a:rPr>
              <a:t>Universidade Federal Rural de Pernambuco - UAST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1700">
                <a:solidFill>
                  <a:schemeClr val="dk1"/>
                </a:solidFill>
              </a:rPr>
              <a:t>Bacharelado em Sistemas de Informação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4" name="Google Shape;94;p13"/>
          <p:cNvSpPr txBox="1"/>
          <p:nvPr>
            <p:ph type="ctrTitle"/>
          </p:nvPr>
        </p:nvSpPr>
        <p:spPr>
          <a:xfrm>
            <a:off x="1203750" y="4603450"/>
            <a:ext cx="673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1500">
                <a:solidFill>
                  <a:schemeClr val="dk1"/>
                </a:solidFill>
              </a:rPr>
              <a:t>Serra Talhada, 2025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5" name="Google Shape;95;p13"/>
          <p:cNvSpPr txBox="1"/>
          <p:nvPr>
            <p:ph type="ctrTitle"/>
          </p:nvPr>
        </p:nvSpPr>
        <p:spPr>
          <a:xfrm>
            <a:off x="645225" y="2747550"/>
            <a:ext cx="67365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pt-BR" sz="1400">
                <a:solidFill>
                  <a:srgbClr val="000000"/>
                </a:solidFill>
              </a:rPr>
              <a:t>Discentes</a:t>
            </a:r>
            <a:r>
              <a:rPr lang="pt-BR" sz="1400">
                <a:solidFill>
                  <a:srgbClr val="000000"/>
                </a:solidFill>
              </a:rPr>
              <a:t>: Ana Paula Pereira e Silva </a:t>
            </a:r>
            <a:r>
              <a:rPr b="1" lang="pt-BR" sz="1400">
                <a:solidFill>
                  <a:srgbClr val="000000"/>
                </a:solidFill>
              </a:rPr>
              <a:t>|</a:t>
            </a:r>
            <a:r>
              <a:rPr lang="pt-BR" sz="1400">
                <a:solidFill>
                  <a:srgbClr val="000000"/>
                </a:solidFill>
              </a:rPr>
              <a:t> </a:t>
            </a:r>
            <a:r>
              <a:rPr lang="pt-BR" sz="14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ana.ppsilva2@ufrpe.br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1400">
                <a:solidFill>
                  <a:srgbClr val="000000"/>
                </a:solidFill>
              </a:rPr>
              <a:t>Lucas Matheus Almeida Pereira </a:t>
            </a:r>
            <a:r>
              <a:rPr b="1" lang="pt-BR" sz="1400">
                <a:solidFill>
                  <a:srgbClr val="000000"/>
                </a:solidFill>
              </a:rPr>
              <a:t>|</a:t>
            </a:r>
            <a:r>
              <a:rPr lang="pt-BR" sz="1400">
                <a:solidFill>
                  <a:srgbClr val="000000"/>
                </a:solidFill>
              </a:rPr>
              <a:t> </a:t>
            </a:r>
            <a:r>
              <a:rPr lang="pt-BR" sz="1400" u="sng">
                <a:solidFill>
                  <a:schemeClr val="hlink"/>
                </a:solidFill>
                <a:hlinkClick r:id="rId4"/>
              </a:rPr>
              <a:t>lucas.matheusalmeida@ufrpe.br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1400">
                <a:solidFill>
                  <a:srgbClr val="000000"/>
                </a:solidFill>
              </a:rPr>
              <a:t>Nicolas de Moraes Borges Dória </a:t>
            </a:r>
            <a:r>
              <a:rPr b="1" lang="pt-BR" sz="1400">
                <a:solidFill>
                  <a:srgbClr val="000000"/>
                </a:solidFill>
              </a:rPr>
              <a:t>|</a:t>
            </a:r>
            <a:r>
              <a:rPr lang="pt-BR" sz="1400">
                <a:solidFill>
                  <a:srgbClr val="000000"/>
                </a:solidFill>
              </a:rPr>
              <a:t> </a:t>
            </a:r>
            <a:r>
              <a:rPr lang="pt-BR" sz="1400">
                <a:solidFill>
                  <a:schemeClr val="hlink"/>
                </a:solidFill>
                <a:uFill>
                  <a:noFill/>
                </a:uFill>
                <a:hlinkClick r:id="rId5"/>
              </a:rPr>
              <a:t>nicolas.borges@ufrpe.br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650" y="0"/>
            <a:ext cx="1680925" cy="119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>
            <p:ph type="ctrTitle"/>
          </p:nvPr>
        </p:nvSpPr>
        <p:spPr>
          <a:xfrm>
            <a:off x="645225" y="3638275"/>
            <a:ext cx="67365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1400">
                <a:solidFill>
                  <a:srgbClr val="595959"/>
                </a:solidFill>
              </a:rPr>
              <a:t>Fonte dos Dados: &lt;</a:t>
            </a:r>
            <a:r>
              <a:rPr lang="pt-BR" sz="1400" u="sng">
                <a:solidFill>
                  <a:schemeClr val="hlink"/>
                </a:solidFill>
                <a:hlinkClick r:id="rId7"/>
              </a:rPr>
              <a:t>Base dos Dados – IDEB (INEP/MEC)</a:t>
            </a:r>
            <a:r>
              <a:rPr lang="pt-BR" sz="1400">
                <a:solidFill>
                  <a:srgbClr val="595959"/>
                </a:solidFill>
              </a:rPr>
              <a:t>&gt;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1400">
                <a:solidFill>
                  <a:srgbClr val="595959"/>
                </a:solidFill>
              </a:rPr>
              <a:t>Aplicação OLAP: &lt;</a:t>
            </a:r>
            <a:r>
              <a:rPr lang="pt-BR" sz="700" u="sng">
                <a:solidFill>
                  <a:schemeClr val="hlink"/>
                </a:solidFill>
                <a:hlinkClick r:id="rId8"/>
              </a:rPr>
              <a:t>https://app.powerbi.com/links/_rYFMWT4or?ctid=a6f74efa-3674-449a-acae-c0a238637504&amp;pbi_source=linkShare</a:t>
            </a:r>
            <a:r>
              <a:rPr lang="pt-BR" sz="1400">
                <a:solidFill>
                  <a:srgbClr val="595959"/>
                </a:solidFill>
              </a:rPr>
              <a:t>&gt;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1400">
                <a:solidFill>
                  <a:srgbClr val="595959"/>
                </a:solidFill>
              </a:rPr>
              <a:t>Github: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lucasmatheusalmeida/sad_ideb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98" name="Google Shape;98;p13" title="Screenshot 2025-10-17 at 15-55-44 ideb-709x375.jpg (imagem WEBP 709 × 375 pixels) - Redimensionada (96%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45875" y="3351200"/>
            <a:ext cx="3390950" cy="17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ctrTitle"/>
          </p:nvPr>
        </p:nvSpPr>
        <p:spPr>
          <a:xfrm>
            <a:off x="685800" y="17226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500">
                <a:solidFill>
                  <a:schemeClr val="accent2"/>
                </a:solidFill>
              </a:rPr>
              <a:t>ETAPA</a:t>
            </a:r>
            <a:r>
              <a:rPr lang="pt-BR" sz="7200">
                <a:solidFill>
                  <a:schemeClr val="accent2"/>
                </a:solidFill>
              </a:rPr>
              <a:t> 1.</a:t>
            </a:r>
            <a:endParaRPr sz="72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600">
                <a:latin typeface="Raleway Medium"/>
                <a:ea typeface="Raleway Medium"/>
                <a:cs typeface="Raleway Medium"/>
                <a:sym typeface="Raleway Medium"/>
              </a:rPr>
              <a:t>PLANEJAMENTO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8732250" y="4830275"/>
            <a:ext cx="41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778650" y="1115625"/>
            <a:ext cx="7586700" cy="3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</a:rPr>
              <a:t>O </a:t>
            </a:r>
            <a:r>
              <a:rPr b="1" lang="pt-BR" sz="1400">
                <a:solidFill>
                  <a:srgbClr val="000000"/>
                </a:solidFill>
              </a:rPr>
              <a:t>IDEB </a:t>
            </a:r>
            <a:r>
              <a:rPr lang="pt-BR" sz="1400">
                <a:solidFill>
                  <a:srgbClr val="000000"/>
                </a:solidFill>
              </a:rPr>
              <a:t>é o principal indicador da qualidade da educação básica no Brasil, combinando o fluxo escolar — como taxas de aprovação — com o desempenho dos estudantes nas avaliações do SAEB (DEMO; SILVA; MINAYO, 2021).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</a:rPr>
              <a:t>A </a:t>
            </a:r>
            <a:r>
              <a:rPr b="1" lang="pt-BR" sz="1400">
                <a:solidFill>
                  <a:srgbClr val="000000"/>
                </a:solidFill>
              </a:rPr>
              <a:t>Região Nordeste</a:t>
            </a:r>
            <a:r>
              <a:rPr lang="pt-BR" sz="1400">
                <a:solidFill>
                  <a:srgbClr val="000000"/>
                </a:solidFill>
              </a:rPr>
              <a:t> historicamente apresenta os menores índices educacionais do país, mas vem mostrando evolução significativa. Compreender essa trajetória entre 2005 e 2021 é essencial para identificar políticas que funcionam e onde precisamos avançar.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</a:rPr>
              <a:t>Mesmo com o progresso, a região ainda enfrenta desafios importantes, como maiores taxas de evasão, desigualdades entre as redes pública e privada e diferenças de desempenho entre os anos iniciais, anos finais e o ensino médio. Estudos recentes destacam que iniciativas como escolas de tempo integral têm potencial para reduzir parte dessas desigualdades (DEMO; SILVA; MINAYO, 2021).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10" name="Google Shape;110;p15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AutoNum type="arabicPeriod"/>
            </a:pPr>
            <a:r>
              <a:rPr b="1" lang="pt-BR" sz="2800">
                <a:solidFill>
                  <a:srgbClr val="434343"/>
                </a:solidFill>
              </a:rPr>
              <a:t>Contextualização</a:t>
            </a:r>
            <a:endParaRPr b="1" sz="2800">
              <a:solidFill>
                <a:srgbClr val="434343"/>
              </a:solidFill>
            </a:endParaRPr>
          </a:p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2" name="Google Shape;112;p15" title="asdqwe1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5207800" y="4817149"/>
            <a:ext cx="4202951" cy="50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title="r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879753">
            <a:off x="4460899" y="5167038"/>
            <a:ext cx="4057501" cy="59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title="gree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015487">
            <a:off x="5225712" y="5215260"/>
            <a:ext cx="4167125" cy="499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idx="1" type="body"/>
          </p:nvPr>
        </p:nvSpPr>
        <p:spPr>
          <a:xfrm>
            <a:off x="781000" y="1418000"/>
            <a:ext cx="75867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rgbClr val="000000"/>
                </a:solidFill>
              </a:rPr>
              <a:t>O objetivo do Data Mart a ser desenvolvido é fornecer uma análise detalhada da </a:t>
            </a:r>
            <a:r>
              <a:rPr b="1" lang="pt-BR" sz="1400">
                <a:solidFill>
                  <a:srgbClr val="000000"/>
                </a:solidFill>
              </a:rPr>
              <a:t>evolução do IDEB na Região Nordeste</a:t>
            </a:r>
            <a:r>
              <a:rPr lang="pt-BR" sz="1400">
                <a:solidFill>
                  <a:srgbClr val="000000"/>
                </a:solidFill>
              </a:rPr>
              <a:t> em diferentes redes de ensino e etapas escolares ao longo do tempo. O Data Mart permitirá extrair insights valiosos sobre as tendências de qualidade educacional, identificar fatores associados ao desempenho e avaliar a eficácia de políticas públicas educacionais.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20" name="Google Shape;120;p16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2.	</a:t>
            </a:r>
            <a:r>
              <a:rPr b="1" lang="pt-BR" sz="2800">
                <a:solidFill>
                  <a:srgbClr val="434343"/>
                </a:solidFill>
              </a:rPr>
              <a:t>Escopo/objetivo do Data Mart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21" name="Google Shape;121;p16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2586700" y="2823800"/>
            <a:ext cx="57810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SzPts val="1800"/>
              <a:buNone/>
            </a:pPr>
            <a:r>
              <a:rPr lang="pt-BR" sz="1400">
                <a:solidFill>
                  <a:srgbClr val="000000"/>
                </a:solidFill>
              </a:rPr>
              <a:t>Os dados a serem analisados serão as </a:t>
            </a:r>
            <a:r>
              <a:rPr b="1" lang="pt-BR" sz="1400">
                <a:solidFill>
                  <a:srgbClr val="000000"/>
                </a:solidFill>
              </a:rPr>
              <a:t>redes de ensino</a:t>
            </a:r>
            <a:r>
              <a:rPr lang="pt-BR" sz="1400">
                <a:solidFill>
                  <a:srgbClr val="000000"/>
                </a:solidFill>
              </a:rPr>
              <a:t> (pública, privada, estadual e municipal), as </a:t>
            </a:r>
            <a:r>
              <a:rPr b="1" lang="pt-BR" sz="1400">
                <a:solidFill>
                  <a:srgbClr val="000000"/>
                </a:solidFill>
              </a:rPr>
              <a:t>etapas escolares</a:t>
            </a:r>
            <a:r>
              <a:rPr lang="pt-BR" sz="1400">
                <a:solidFill>
                  <a:srgbClr val="000000"/>
                </a:solidFill>
              </a:rPr>
              <a:t> (anos iniciais, anos finais, ensino médio) e os </a:t>
            </a:r>
            <a:r>
              <a:rPr b="1" lang="pt-BR" sz="1400">
                <a:solidFill>
                  <a:srgbClr val="000000"/>
                </a:solidFill>
              </a:rPr>
              <a:t>indicadores educacionais</a:t>
            </a:r>
            <a:r>
              <a:rPr lang="pt-BR" sz="1400">
                <a:solidFill>
                  <a:srgbClr val="000000"/>
                </a:solidFill>
              </a:rPr>
              <a:t> (IDEB, taxa de aprovação, notas SAEB). O período de análise são os anos 2005, 2007, 2009, 2011, 2013, 2015, 2017, 2019 e 2021.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123" name="Google Shape;123;p16" title="nordeste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50175"/>
            <a:ext cx="2497025" cy="22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3.	</a:t>
            </a:r>
            <a:r>
              <a:rPr b="1" lang="pt-BR" sz="2800">
                <a:solidFill>
                  <a:srgbClr val="434343"/>
                </a:solidFill>
              </a:rPr>
              <a:t>Arquitetura Tecnológica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29" name="Google Shape;129;p17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0" name="Google Shape;130;p17" title="image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50" y="1706225"/>
            <a:ext cx="2241050" cy="15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title="1187210_10ee-removebg-preview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1023" y="1710871"/>
            <a:ext cx="2710705" cy="1526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1177" y="1427623"/>
            <a:ext cx="2050579" cy="1827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03236" y="3332855"/>
            <a:ext cx="1526289" cy="1526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1240" y="3332840"/>
            <a:ext cx="2430433" cy="121522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59675" y="1138175"/>
            <a:ext cx="199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Fonte de Dados:</a:t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553975" y="1138175"/>
            <a:ext cx="162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Parte de ETL:</a:t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079863" y="1138175"/>
            <a:ext cx="199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Aplicação OLAP:</a:t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17"/>
          <p:cNvCxnSpPr/>
          <p:nvPr/>
        </p:nvCxnSpPr>
        <p:spPr>
          <a:xfrm>
            <a:off x="3020550" y="1196400"/>
            <a:ext cx="21300" cy="3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17"/>
          <p:cNvCxnSpPr/>
          <p:nvPr/>
        </p:nvCxnSpPr>
        <p:spPr>
          <a:xfrm>
            <a:off x="5731600" y="1228550"/>
            <a:ext cx="10800" cy="36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Planejamento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Levantamento das necessidades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Modelagem dimensional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Projeto físico dos BD’s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Projeto ETC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Desenvolvimento e Aplicações OLAP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45" name="Google Shape;145;p18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4.	</a:t>
            </a:r>
            <a:r>
              <a:rPr b="1" lang="pt-BR" sz="2800">
                <a:solidFill>
                  <a:srgbClr val="434343"/>
                </a:solidFill>
              </a:rPr>
              <a:t>Processo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7" name="Google Shape;147;p18" title="WhatsApp_Image_2025-10-16_at_09.50.33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325" y="2109172"/>
            <a:ext cx="4003201" cy="26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rgbClr val="000000"/>
                </a:solidFill>
              </a:rPr>
              <a:t>       Para o desenvolvimento deste Data Mart foi utilizada a abordagem </a:t>
            </a:r>
            <a:r>
              <a:rPr b="1" lang="pt-BR" sz="1400">
                <a:solidFill>
                  <a:srgbClr val="000000"/>
                </a:solidFill>
              </a:rPr>
              <a:t>Bottom-up</a:t>
            </a:r>
            <a:r>
              <a:rPr lang="pt-BR" sz="1400">
                <a:solidFill>
                  <a:srgbClr val="000000"/>
                </a:solidFill>
              </a:rPr>
              <a:t>, pois ela é uma abordagem evolutiva, com disponibilização imediata dos produtos. Como se trata de um Data Mart específico do IDEB, que foca em uma área restrita (Região Nordeste e seus indicadores), é mais adequado utilizar a abordagem Bottom-up, pois parte das necessidades locais para construir algo maior, se necessário.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SzPts val="1800"/>
              <a:buNone/>
            </a:pPr>
            <a:r>
              <a:rPr lang="pt-BR" sz="1400">
                <a:solidFill>
                  <a:srgbClr val="000000"/>
                </a:solidFill>
              </a:rPr>
              <a:t>      </a:t>
            </a:r>
            <a:r>
              <a:rPr lang="pt-BR" sz="1400">
                <a:solidFill>
                  <a:srgbClr val="000000"/>
                </a:solidFill>
              </a:rPr>
              <a:t>Na modelagem, foi adotado o </a:t>
            </a:r>
            <a:r>
              <a:rPr b="1" lang="pt-BR" sz="1400">
                <a:solidFill>
                  <a:srgbClr val="000000"/>
                </a:solidFill>
              </a:rPr>
              <a:t>Star Schema</a:t>
            </a:r>
            <a:r>
              <a:rPr lang="pt-BR" sz="1400">
                <a:solidFill>
                  <a:srgbClr val="000000"/>
                </a:solidFill>
              </a:rPr>
              <a:t>, que é amplamente utilizado na construção de Data Marts por sua simplicidade e eficiência. Esse modelo organiza os dados em tabelas de dimensão e fato, facilitando o entendimento, a consulta e a análise. Diferentemente de arquiteturas mais centralizadas, o Star Schema promove acesso direto e rápido às informações essenciais, o que o torna apropriado para análises educacionais voltadas ao ID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EB.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5.	</a:t>
            </a:r>
            <a:r>
              <a:rPr b="1" lang="pt-BR" sz="2800">
                <a:solidFill>
                  <a:srgbClr val="434343"/>
                </a:solidFill>
              </a:rPr>
              <a:t>Abordagem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54" name="Google Shape;154;p19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Gestores de instituições de ensino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Órgãos públicos e secretarias de educação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Pesquisadores e analistas de educação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Áreas de Business Intelligence e Analytics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Estudantes e sociedade em geral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Empresas privadas do setor educacional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Órgãos de controle e fiscalização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60" name="Google Shape;160;p20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6.	</a:t>
            </a:r>
            <a:r>
              <a:rPr b="1" lang="pt-BR" sz="2800">
                <a:solidFill>
                  <a:srgbClr val="434343"/>
                </a:solidFill>
              </a:rPr>
              <a:t>Usuários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2" name="Google Shape;162;p20" title="tipos-de-analises-de-dados-como-funciona-processo-de-640w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7900" y="2670525"/>
            <a:ext cx="3471400" cy="23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ctrTitle"/>
          </p:nvPr>
        </p:nvSpPr>
        <p:spPr>
          <a:xfrm>
            <a:off x="685800" y="2077567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500">
                <a:solidFill>
                  <a:schemeClr val="accent2"/>
                </a:solidFill>
              </a:rPr>
              <a:t>ETAPA</a:t>
            </a:r>
            <a:r>
              <a:rPr lang="pt-BR" sz="7200">
                <a:solidFill>
                  <a:schemeClr val="accent2"/>
                </a:solidFill>
              </a:rPr>
              <a:t> 2.</a:t>
            </a:r>
            <a:endParaRPr sz="72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600">
                <a:latin typeface="Raleway Medium"/>
                <a:ea typeface="Raleway Medium"/>
                <a:cs typeface="Raleway Medium"/>
                <a:sym typeface="Raleway Medium"/>
              </a:rPr>
              <a:t>LEVANTAMENTO DAS NECESSIDADES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68" name="Google Shape;168;p21"/>
          <p:cNvSpPr txBox="1"/>
          <p:nvPr>
            <p:ph idx="12" type="sldNum"/>
          </p:nvPr>
        </p:nvSpPr>
        <p:spPr>
          <a:xfrm>
            <a:off x="8732250" y="4830275"/>
            <a:ext cx="41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Evolução do IDEB ao longo dos anos na Região Nordeste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Comparação do IDEB entre redes de ensino (pública, privada, estadual) por ano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Comparação do IDEB entre etapas de ensino (anos iniciais, finais, ensino médio) por ano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Distribuição da taxa de aprovação e das notas SAEB por rede e etapa de ensino ao longo do tempo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7.	</a:t>
            </a:r>
            <a:r>
              <a:rPr b="1" lang="pt-BR" sz="2800">
                <a:solidFill>
                  <a:srgbClr val="434343"/>
                </a:solidFill>
              </a:rPr>
              <a:t>Consultas de Apoio à Decisão 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6" name="Google Shape;176;p22" title="6686e444761fce8c6964a0f0__capa_e3b04152b7ea099c644ff5bf26d9df0d_2000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950" y="2373550"/>
            <a:ext cx="4545100" cy="247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Evolução Histórica no Nordeste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Comparativo Nordeste vs Outras Regiões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IDEB médio por rede de ensino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IDEB médio por etapa de ensino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Média do IDEB por Ano com a Rede de Ensino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Comparativo da Média do IDEB no Nordeste Vs Brasil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Comparativo das Notas do Nordeste vs Brasil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Taxa de aprovação (%) por rede e etapa de ensino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Relação entre IDEB e taxa de aprovação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>
                <a:solidFill>
                  <a:srgbClr val="000000"/>
                </a:solidFill>
              </a:rPr>
              <a:t>Evolução percentual do IDEB ao longo dos anos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82" name="Google Shape;182;p23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8.	</a:t>
            </a:r>
            <a:r>
              <a:rPr b="1" lang="pt-BR" sz="2800">
                <a:solidFill>
                  <a:srgbClr val="434343"/>
                </a:solidFill>
              </a:rPr>
              <a:t>Indicadores da análise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ctrTitle"/>
          </p:nvPr>
        </p:nvSpPr>
        <p:spPr>
          <a:xfrm>
            <a:off x="685800" y="2077567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500">
                <a:solidFill>
                  <a:schemeClr val="accent2"/>
                </a:solidFill>
              </a:rPr>
              <a:t>ETAPA</a:t>
            </a:r>
            <a:r>
              <a:rPr lang="pt-BR" sz="7200">
                <a:solidFill>
                  <a:schemeClr val="accent2"/>
                </a:solidFill>
              </a:rPr>
              <a:t> 3.</a:t>
            </a:r>
            <a:endParaRPr sz="72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600">
                <a:latin typeface="Raleway Medium"/>
                <a:ea typeface="Raleway Medium"/>
                <a:cs typeface="Raleway Medium"/>
                <a:sym typeface="Raleway Medium"/>
              </a:rPr>
              <a:t>MODELAGEM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89" name="Google Shape;189;p24"/>
          <p:cNvSpPr txBox="1"/>
          <p:nvPr>
            <p:ph idx="12" type="sldNum"/>
          </p:nvPr>
        </p:nvSpPr>
        <p:spPr>
          <a:xfrm>
            <a:off x="8732250" y="4830275"/>
            <a:ext cx="41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9.	</a:t>
            </a:r>
            <a:r>
              <a:rPr b="1" lang="pt-BR" sz="2800">
                <a:solidFill>
                  <a:srgbClr val="434343"/>
                </a:solidFill>
              </a:rPr>
              <a:t>Modelo Relacional</a:t>
            </a:r>
            <a:endParaRPr b="1" sz="2800">
              <a:solidFill>
                <a:srgbClr val="434343"/>
              </a:solidFill>
            </a:endParaRPr>
          </a:p>
        </p:txBody>
      </p:sp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96" name="Google Shape;196;p25"/>
          <p:cNvGraphicFramePr/>
          <p:nvPr/>
        </p:nvGraphicFramePr>
        <p:xfrm>
          <a:off x="561525" y="1977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{7F14E65D-D786-4EFE-BD74-4DD6537158FC}</a:tableStyleId>
              </a:tblPr>
              <a:tblGrid>
                <a:gridCol w="1778600"/>
              </a:tblGrid>
              <a:tr h="52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Tempo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id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7" name="Google Shape;197;p25"/>
          <p:cNvGraphicFramePr/>
          <p:nvPr/>
        </p:nvGraphicFramePr>
        <p:xfrm>
          <a:off x="25103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{7F14E65D-D786-4EFE-BD74-4DD6537158FC}</a:tableStyleId>
              </a:tblPr>
              <a:tblGrid>
                <a:gridCol w="1778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R</a:t>
                      </a:r>
                      <a:r>
                        <a:rPr b="1" lang="pt-BR" sz="1400" u="none" cap="none" strike="noStrike"/>
                        <a:t>ede</a:t>
                      </a:r>
                      <a:r>
                        <a:rPr b="1" lang="pt-BR"/>
                        <a:t> E</a:t>
                      </a:r>
                      <a:r>
                        <a:rPr b="1" lang="pt-BR" sz="1400" u="none" cap="none" strike="noStrike"/>
                        <a:t>nsino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id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rede_ensino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rede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8" name="Google Shape;198;p25"/>
          <p:cNvGraphicFramePr/>
          <p:nvPr/>
        </p:nvGraphicFramePr>
        <p:xfrm>
          <a:off x="4459175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{7F14E65D-D786-4EFE-BD74-4DD6537158FC}</a:tableStyleId>
              </a:tblPr>
              <a:tblGrid>
                <a:gridCol w="1961050"/>
              </a:tblGrid>
              <a:tr h="342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E</a:t>
                      </a:r>
                      <a:r>
                        <a:rPr b="1" lang="pt-BR" sz="1400" u="none" cap="none" strike="noStrike"/>
                        <a:t>tapa</a:t>
                      </a:r>
                      <a:r>
                        <a:rPr b="1" lang="pt-BR"/>
                        <a:t> E</a:t>
                      </a:r>
                      <a:r>
                        <a:rPr b="1" lang="pt-BR" sz="1400" u="none" cap="none" strike="noStrike"/>
                        <a:t>nsino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id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etapa_ensino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etapa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9" name="Google Shape;199;p25"/>
          <p:cNvGraphicFramePr/>
          <p:nvPr/>
        </p:nvGraphicFramePr>
        <p:xfrm>
          <a:off x="6703950" y="197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{7F14E65D-D786-4EFE-BD74-4DD6537158FC}</a:tableStyleId>
              </a:tblPr>
              <a:tblGrid>
                <a:gridCol w="1778600"/>
              </a:tblGrid>
              <a:tr h="52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Região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/>
                        <a:t>id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regiao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800">
                <a:solidFill>
                  <a:srgbClr val="000000"/>
                </a:solidFill>
              </a:rPr>
              <a:t>Atributos e Hierarquia das Dimensões</a:t>
            </a:r>
            <a:endParaRPr sz="18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dim_tempo (ano)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dim_rede_ensino (rede)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dim_etapa_ensino (etapa)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dim_regiao(regiao)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05" name="Google Shape;205;p26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10.	</a:t>
            </a:r>
            <a:r>
              <a:rPr b="1" lang="pt-BR" sz="2800">
                <a:solidFill>
                  <a:srgbClr val="434343"/>
                </a:solidFill>
              </a:rPr>
              <a:t>Modelo Dimensional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06" name="Google Shape;206;p26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Área de Negócios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Educação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Processo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Avaliar evolução do IDEB no Nordeste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Granularidade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pt-BR" sz="1600">
                <a:solidFill>
                  <a:srgbClr val="000000"/>
                </a:solidFill>
              </a:rPr>
              <a:t>Rede × Etapa  × Regiao × Ano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212" name="Google Shape;212;p27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10.	</a:t>
            </a:r>
            <a:r>
              <a:rPr b="1" lang="pt-BR" sz="2800">
                <a:solidFill>
                  <a:srgbClr val="434343"/>
                </a:solidFill>
              </a:rPr>
              <a:t>Modelo Dimensional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13" name="Google Shape;213;p27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idx="1" type="body"/>
          </p:nvPr>
        </p:nvSpPr>
        <p:spPr>
          <a:xfrm>
            <a:off x="781000" y="1418000"/>
            <a:ext cx="75867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Métricas da Fato 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●"/>
            </a:pPr>
            <a:r>
              <a:rPr lang="pt-BR" sz="1600">
                <a:solidFill>
                  <a:srgbClr val="000000"/>
                </a:solidFill>
              </a:rPr>
              <a:t>fato_ideb 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○"/>
            </a:pPr>
            <a:r>
              <a:rPr lang="pt-BR" sz="1600">
                <a:solidFill>
                  <a:srgbClr val="000000"/>
                </a:solidFill>
              </a:rPr>
              <a:t>ideb (Aditiva)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○"/>
            </a:pPr>
            <a:r>
              <a:rPr lang="pt-BR" sz="1600">
                <a:solidFill>
                  <a:srgbClr val="000000"/>
                </a:solidFill>
              </a:rPr>
              <a:t>taxa_aprovacao (Aditiva)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○"/>
            </a:pPr>
            <a:r>
              <a:rPr lang="pt-BR" sz="1600">
                <a:solidFill>
                  <a:srgbClr val="000000"/>
                </a:solidFill>
              </a:rPr>
              <a:t>nota_saeb_media_padronizada (Aditiva)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○"/>
            </a:pPr>
            <a:r>
              <a:rPr lang="pt-BR" sz="1600">
                <a:solidFill>
                  <a:srgbClr val="000000"/>
                </a:solidFill>
              </a:rPr>
              <a:t>nota_saeb_matematica (Aditiva)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○"/>
            </a:pPr>
            <a:r>
              <a:rPr lang="pt-BR" sz="1600">
                <a:solidFill>
                  <a:srgbClr val="000000"/>
                </a:solidFill>
              </a:rPr>
              <a:t>nota_saeb_lingua_portuguesa (Aditiva)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19" name="Google Shape;219;p28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10.	</a:t>
            </a:r>
            <a:r>
              <a:rPr b="1" lang="pt-BR" sz="2800">
                <a:solidFill>
                  <a:srgbClr val="434343"/>
                </a:solidFill>
              </a:rPr>
              <a:t>Modelo Dimensional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20" name="Google Shape;220;p28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10.	</a:t>
            </a:r>
            <a:r>
              <a:rPr b="1" lang="pt-BR" sz="2800">
                <a:solidFill>
                  <a:srgbClr val="434343"/>
                </a:solidFill>
              </a:rPr>
              <a:t>Modelo Dimensional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26" name="Google Shape;226;p29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27" name="Google Shape;227;p29"/>
          <p:cNvGraphicFramePr/>
          <p:nvPr/>
        </p:nvGraphicFramePr>
        <p:xfrm>
          <a:off x="6635075" y="151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{7F14E65D-D786-4EFE-BD74-4DD6537158FC}</a:tableStyleId>
              </a:tblPr>
              <a:tblGrid>
                <a:gridCol w="688725"/>
                <a:gridCol w="1680900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dim_etapa_ensino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dim_</a:t>
                      </a:r>
                      <a:r>
                        <a:rPr lang="pt-BR" sz="1400" u="none" cap="none" strike="noStrike"/>
                        <a:t>etapa_ensino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etapa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8" name="Google Shape;228;p29"/>
          <p:cNvGraphicFramePr/>
          <p:nvPr/>
        </p:nvGraphicFramePr>
        <p:xfrm>
          <a:off x="3027101" y="111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{7F14E65D-D786-4EFE-BD74-4DD6537158FC}</a:tableStyleId>
              </a:tblPr>
              <a:tblGrid>
                <a:gridCol w="491200"/>
                <a:gridCol w="2688950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fato_ideb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dim_tempo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dim_rede_ensino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dim_etapa_ensino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dim_regiao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FK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ideb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nota_saeb_matematica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rgbClr val="000000"/>
                          </a:solidFill>
                        </a:rPr>
                        <a:t>nota_saeb_lingua_portugues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rgbClr val="000000"/>
                          </a:solidFill>
                        </a:rPr>
                        <a:t>nota_saeb_media_padronizada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rgbClr val="000000"/>
                          </a:solidFill>
                        </a:rPr>
                        <a:t>taxa_aprovacao</a:t>
                      </a:r>
                      <a:endParaRPr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9" name="Google Shape;229;p29"/>
          <p:cNvGraphicFramePr/>
          <p:nvPr/>
        </p:nvGraphicFramePr>
        <p:xfrm>
          <a:off x="220925" y="125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{7F14E65D-D786-4EFE-BD74-4DD6537158FC}</a:tableStyleId>
              </a:tblPr>
              <a:tblGrid>
                <a:gridCol w="1062275"/>
                <a:gridCol w="1062275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dim_tempo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dim_</a:t>
                      </a:r>
                      <a:r>
                        <a:rPr lang="pt-BR" sz="1400" u="none" cap="none" strike="noStrike"/>
                        <a:t>tempo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ano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30" name="Google Shape;230;p29"/>
          <p:cNvGraphicFramePr/>
          <p:nvPr/>
        </p:nvGraphicFramePr>
        <p:xfrm>
          <a:off x="129688" y="323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{7F14E65D-D786-4EFE-BD74-4DD6537158FC}</a:tableStyleId>
              </a:tblPr>
              <a:tblGrid>
                <a:gridCol w="577475"/>
                <a:gridCol w="1547075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dim_rede_ensino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dim_</a:t>
                      </a:r>
                      <a:r>
                        <a:rPr lang="pt-BR" sz="1400" u="none" cap="none" strike="noStrike"/>
                        <a:t>rede_ensino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rede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31" name="Google Shape;231;p29"/>
          <p:cNvCxnSpPr/>
          <p:nvPr/>
        </p:nvCxnSpPr>
        <p:spPr>
          <a:xfrm>
            <a:off x="2366900" y="1913100"/>
            <a:ext cx="50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" name="Google Shape;232;p29"/>
          <p:cNvCxnSpPr/>
          <p:nvPr/>
        </p:nvCxnSpPr>
        <p:spPr>
          <a:xfrm flipH="1" rot="10800000">
            <a:off x="2345475" y="2384550"/>
            <a:ext cx="600000" cy="14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33" name="Google Shape;233;p29"/>
          <p:cNvGraphicFramePr/>
          <p:nvPr/>
        </p:nvGraphicFramePr>
        <p:xfrm>
          <a:off x="6635075" y="338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{7F14E65D-D786-4EFE-BD74-4DD6537158FC}</a:tableStyleId>
              </a:tblPr>
              <a:tblGrid>
                <a:gridCol w="688725"/>
                <a:gridCol w="1680900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dim_</a:t>
                      </a:r>
                      <a:r>
                        <a:rPr lang="pt-BR"/>
                        <a:t>regiao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dim_</a:t>
                      </a:r>
                      <a:r>
                        <a:rPr lang="pt-BR" sz="1400" u="none" cap="none" strike="noStrike"/>
                        <a:t>etapa_ensino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/>
                        <a:t>regiao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34" name="Google Shape;234;p29"/>
          <p:cNvCxnSpPr/>
          <p:nvPr/>
        </p:nvCxnSpPr>
        <p:spPr>
          <a:xfrm rot="10800000">
            <a:off x="6288775" y="3227925"/>
            <a:ext cx="310800" cy="83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9"/>
          <p:cNvCxnSpPr/>
          <p:nvPr/>
        </p:nvCxnSpPr>
        <p:spPr>
          <a:xfrm flipH="1">
            <a:off x="6288900" y="2177775"/>
            <a:ext cx="257100" cy="41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10.	</a:t>
            </a:r>
            <a:r>
              <a:rPr b="1" lang="pt-BR" sz="2800">
                <a:solidFill>
                  <a:srgbClr val="434343"/>
                </a:solidFill>
              </a:rPr>
              <a:t>Modelo Dimensional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41" name="Google Shape;241;p30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42" name="Google Shape;242;p30"/>
          <p:cNvGraphicFramePr/>
          <p:nvPr/>
        </p:nvGraphicFramePr>
        <p:xfrm>
          <a:off x="295038" y="16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{54AEDC7E-0AE8-4EE8-B4B4-DA9BD6F8ACD3}</a:tableStyleId>
              </a:tblPr>
              <a:tblGrid>
                <a:gridCol w="507000"/>
                <a:gridCol w="1429975"/>
              </a:tblGrid>
              <a:tr h="2881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dim_rede_ensino</a:t>
                      </a:r>
                      <a:endParaRPr b="1" sz="13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 hMerge="1"/>
              </a:tr>
              <a:tr h="2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pt-BR" sz="1000" u="none" cap="none" strike="noStrike"/>
                        <a:t>PK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rede_ensino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publica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privada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estadual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4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/>
                        <a:t>total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3" name="Google Shape;243;p30"/>
          <p:cNvGraphicFramePr/>
          <p:nvPr/>
        </p:nvGraphicFramePr>
        <p:xfrm>
          <a:off x="2464976" y="1704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{54AEDC7E-0AE8-4EE8-B4B4-DA9BD6F8ACD3}</a:tableStyleId>
              </a:tblPr>
              <a:tblGrid>
                <a:gridCol w="589625"/>
                <a:gridCol w="1347350"/>
              </a:tblGrid>
              <a:tr h="2476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dim_tempo</a:t>
                      </a:r>
                      <a:endParaRPr b="1" sz="13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 hMerge="1"/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pt-BR" sz="1000" u="none" cap="none" strike="noStrike"/>
                        <a:t>PK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tempo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2005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2007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2009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4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2011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5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2013</a:t>
                      </a:r>
                      <a:endParaRPr sz="1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4" name="Google Shape;244;p30"/>
          <p:cNvGraphicFramePr/>
          <p:nvPr/>
        </p:nvGraphicFramePr>
        <p:xfrm>
          <a:off x="4688488" y="168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{7F14E65D-D786-4EFE-BD74-4DD6537158FC}</a:tableStyleId>
              </a:tblPr>
              <a:tblGrid>
                <a:gridCol w="454375"/>
                <a:gridCol w="1482600"/>
              </a:tblGrid>
              <a:tr h="2667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dim_etapa_ensino</a:t>
                      </a:r>
                      <a:endParaRPr b="1" sz="13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4A86E8"/>
                    </a:solidFill>
                  </a:tcPr>
                </a:tc>
                <a:tc hMerge="1"/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pt-BR" sz="1000" u="none" cap="none" strike="noStrike"/>
                        <a:t>PK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etapa_ensino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fundamental1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000000"/>
                          </a:solidFill>
                        </a:rPr>
                        <a:t>fundamental2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000000"/>
                          </a:solidFill>
                        </a:rPr>
                        <a:t>medio</a:t>
                      </a:r>
                      <a:endParaRPr sz="1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5" name="Google Shape;245;p30"/>
          <p:cNvGraphicFramePr/>
          <p:nvPr/>
        </p:nvGraphicFramePr>
        <p:xfrm>
          <a:off x="6911988" y="170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{7F14E65D-D786-4EFE-BD74-4DD6537158FC}</a:tableStyleId>
              </a:tblPr>
              <a:tblGrid>
                <a:gridCol w="454375"/>
                <a:gridCol w="1482600"/>
              </a:tblGrid>
              <a:tr h="2667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dim_</a:t>
                      </a:r>
                      <a:r>
                        <a:rPr b="1" lang="pt-BR" sz="13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regiao</a:t>
                      </a:r>
                      <a:endParaRPr b="1" sz="13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solidFill>
                      <a:srgbClr val="4A86E8"/>
                    </a:solidFill>
                  </a:tcPr>
                </a:tc>
                <a:tc hMerge="1"/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pt-BR" sz="1000" u="none" cap="none" strike="noStrike"/>
                        <a:t>PK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/>
                        <a:t>regiao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/>
                        <a:t>Nordeste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/>
                        <a:t>Sudeste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/>
                        <a:t>Sul</a:t>
                      </a:r>
                      <a:endParaRPr sz="1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893700" y="336563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10.	</a:t>
            </a:r>
            <a:r>
              <a:rPr b="1" lang="pt-BR" sz="2800">
                <a:solidFill>
                  <a:srgbClr val="434343"/>
                </a:solidFill>
              </a:rPr>
              <a:t>Modelo Dimensional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51" name="Google Shape;251;p31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52" name="Google Shape;252;p31"/>
          <p:cNvGraphicFramePr/>
          <p:nvPr/>
        </p:nvGraphicFramePr>
        <p:xfrm>
          <a:off x="969975" y="119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{A8B8DB29-BFBC-49C0-89F8-2F9CEB8ABA3D}</a:tableStyleId>
              </a:tblPr>
              <a:tblGrid>
                <a:gridCol w="758325"/>
                <a:gridCol w="910000"/>
                <a:gridCol w="758325"/>
                <a:gridCol w="758325"/>
                <a:gridCol w="595000"/>
                <a:gridCol w="921625"/>
                <a:gridCol w="826575"/>
                <a:gridCol w="811425"/>
                <a:gridCol w="864500"/>
              </a:tblGrid>
              <a:tr h="272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id_rede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id_tempo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id_etapa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id_regiao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id_ideb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taxa_aprovacao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nota_matematica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nota_portuguesa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nota_padronizada</a:t>
                      </a:r>
                      <a:endParaRPr b="1" sz="10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73,7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260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248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40645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3.3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7,5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232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226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43243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3.9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6,0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181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172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45518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3.1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97,4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228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222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41828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3.4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80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174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165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43024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3.5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81,6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272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261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47005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3.8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56.2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247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234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44352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4.2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84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175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48566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4.5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88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261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365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42353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4.9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77,6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300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40000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781000" y="1418000"/>
            <a:ext cx="7897500" cy="3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Estimativa de Espaço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</a:rPr>
              <a:t> </a:t>
            </a:r>
            <a:r>
              <a:rPr lang="pt-BR" sz="1600">
                <a:solidFill>
                  <a:srgbClr val="000000"/>
                </a:solidFill>
              </a:rPr>
              <a:t>O período considerado é de 9 anos (2005 a 2021), com 500 registros por dia.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</a:rPr>
              <a:t>9 x 365 = 3.285 dias, resultando em: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</a:rPr>
              <a:t>3285 x 500 = 1.642.500 registros.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</a:rPr>
              <a:t>Cada registro possui 4 chaves estrangeiras (pk_tempo, pk_rede_ensino, pk_etapa_ensino, pk_regiao), com 4 bytes cada, e 4 medidas numéricas (ideb, nota_saeb_matemática, nota_saeb_portuguesa e nota_saeb_média_padronizada), também com 4 bytes cada.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0000"/>
                </a:solidFill>
              </a:rPr>
              <a:t>Assim, temos: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</a:rPr>
              <a:t>1.642.500  x ((3 x 4) + (4 x 4)) = 1.642.500 x 28 = 52.560.000 bytes = 52.560 KB.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11.	</a:t>
            </a:r>
            <a:r>
              <a:rPr b="1" lang="pt-BR" sz="2800">
                <a:solidFill>
                  <a:srgbClr val="434343"/>
                </a:solidFill>
              </a:rPr>
              <a:t>Modelo Dimensional do Data Mart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781000" y="1418000"/>
            <a:ext cx="7897500" cy="3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pt-BR" sz="1600">
                <a:solidFill>
                  <a:srgbClr val="000000"/>
                </a:solidFill>
              </a:rPr>
              <a:t>Estimativa de Espaço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▷"/>
            </a:pPr>
            <a:r>
              <a:rPr lang="pt-BR" sz="1500">
                <a:solidFill>
                  <a:srgbClr val="000000"/>
                </a:solidFill>
              </a:rPr>
              <a:t>Adicionado 20% referentes às dimensões e índices:</a:t>
            </a:r>
            <a:endParaRPr sz="15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</a:rPr>
              <a:t>20% de 52.560 KB = 10.512 KB.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▷"/>
            </a:pPr>
            <a:r>
              <a:rPr lang="pt-BR" sz="1500">
                <a:solidFill>
                  <a:srgbClr val="000000"/>
                </a:solidFill>
              </a:rPr>
              <a:t>Total estimado:</a:t>
            </a:r>
            <a:endParaRPr sz="15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</a:rPr>
              <a:t>52.560 + 10.512 = 63.072 KB (aproximadamente 52,6 MB).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65" name="Google Shape;265;p33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11.	</a:t>
            </a:r>
            <a:r>
              <a:rPr b="1" lang="pt-BR" sz="2800">
                <a:solidFill>
                  <a:srgbClr val="434343"/>
                </a:solidFill>
              </a:rPr>
              <a:t>Modelo Dimensional do Data Mart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66" name="Google Shape;266;p33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type="ctrTitle"/>
          </p:nvPr>
        </p:nvSpPr>
        <p:spPr>
          <a:xfrm>
            <a:off x="685800" y="2077567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500">
                <a:solidFill>
                  <a:schemeClr val="accent2"/>
                </a:solidFill>
              </a:rPr>
              <a:t>ETAPA</a:t>
            </a:r>
            <a:r>
              <a:rPr lang="pt-BR" sz="7200">
                <a:solidFill>
                  <a:schemeClr val="accent2"/>
                </a:solidFill>
              </a:rPr>
              <a:t> 4.</a:t>
            </a:r>
            <a:endParaRPr sz="72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600">
                <a:latin typeface="Raleway Medium"/>
                <a:ea typeface="Raleway Medium"/>
                <a:cs typeface="Raleway Medium"/>
                <a:sym typeface="Raleway Medium"/>
              </a:rPr>
              <a:t>PROJETO FÍSICO DO DB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72" name="Google Shape;272;p34"/>
          <p:cNvSpPr txBox="1"/>
          <p:nvPr>
            <p:ph idx="12" type="sldNum"/>
          </p:nvPr>
        </p:nvSpPr>
        <p:spPr>
          <a:xfrm>
            <a:off x="8732250" y="4830275"/>
            <a:ext cx="41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12.	</a:t>
            </a:r>
            <a:r>
              <a:rPr b="1" lang="pt-BR" sz="2800">
                <a:solidFill>
                  <a:srgbClr val="434343"/>
                </a:solidFill>
              </a:rPr>
              <a:t>Modelo Relacional do Data Mart (Físico)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79" name="Google Shape;2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75" y="1410675"/>
            <a:ext cx="3686175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1063" y="2015238"/>
            <a:ext cx="473392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type="ctrTitle"/>
          </p:nvPr>
        </p:nvSpPr>
        <p:spPr>
          <a:xfrm>
            <a:off x="685800" y="2077567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500">
                <a:solidFill>
                  <a:schemeClr val="accent2"/>
                </a:solidFill>
              </a:rPr>
              <a:t>ETAPA</a:t>
            </a:r>
            <a:r>
              <a:rPr lang="pt-BR" sz="7200">
                <a:solidFill>
                  <a:schemeClr val="accent2"/>
                </a:solidFill>
              </a:rPr>
              <a:t> 5.</a:t>
            </a:r>
            <a:endParaRPr sz="72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600">
                <a:latin typeface="Raleway Medium"/>
                <a:ea typeface="Raleway Medium"/>
                <a:cs typeface="Raleway Medium"/>
                <a:sym typeface="Raleway Medium"/>
              </a:rPr>
              <a:t>EXTRAÇÃO, TRANSFORMAÇÃO E CARGA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86" name="Google Shape;286;p36"/>
          <p:cNvSpPr txBox="1"/>
          <p:nvPr>
            <p:ph idx="12" type="sldNum"/>
          </p:nvPr>
        </p:nvSpPr>
        <p:spPr>
          <a:xfrm>
            <a:off x="8732250" y="4830275"/>
            <a:ext cx="41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13.	</a:t>
            </a:r>
            <a:r>
              <a:rPr b="1" lang="pt-BR" sz="2800">
                <a:solidFill>
                  <a:srgbClr val="434343"/>
                </a:solidFill>
              </a:rPr>
              <a:t>Plano de Carga da Dimensão TEMPO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3" name="Google Shape;29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4863" y="2038350"/>
            <a:ext cx="4974275" cy="133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14.	</a:t>
            </a:r>
            <a:r>
              <a:rPr b="1" lang="pt-BR" sz="2800">
                <a:solidFill>
                  <a:srgbClr val="434343"/>
                </a:solidFill>
              </a:rPr>
              <a:t>Plano de Carga da Dimensão REGIÃO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00" name="Google Shape;3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213" y="1445925"/>
            <a:ext cx="7267575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893700" y="43612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15.	</a:t>
            </a:r>
            <a:r>
              <a:rPr b="1" lang="pt-BR" sz="2800">
                <a:solidFill>
                  <a:srgbClr val="434343"/>
                </a:solidFill>
              </a:rPr>
              <a:t>Plano de Carga da Dimensão ETAPA ENSINO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07" name="Google Shape;30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025" y="1893925"/>
            <a:ext cx="7915275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16.	</a:t>
            </a:r>
            <a:r>
              <a:rPr b="1" lang="pt-BR" sz="2800">
                <a:solidFill>
                  <a:srgbClr val="434343"/>
                </a:solidFill>
              </a:rPr>
              <a:t>Plano de Carga da Dimensão REDE ENSINO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313" name="Google Shape;313;p40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4" name="Google Shape;31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825" y="1728000"/>
            <a:ext cx="73723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17.	</a:t>
            </a:r>
            <a:r>
              <a:rPr b="1" lang="pt-BR" sz="2800">
                <a:solidFill>
                  <a:srgbClr val="434343"/>
                </a:solidFill>
              </a:rPr>
              <a:t>Plano de Carga da Dimensão ETAPA FATO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320" name="Google Shape;320;p41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21" name="Google Shape;3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788" y="1794400"/>
            <a:ext cx="7278426" cy="231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>
            <p:ph type="ctrTitle"/>
          </p:nvPr>
        </p:nvSpPr>
        <p:spPr>
          <a:xfrm>
            <a:off x="685800" y="2077567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500">
                <a:solidFill>
                  <a:schemeClr val="accent2"/>
                </a:solidFill>
              </a:rPr>
              <a:t>ETAPA</a:t>
            </a:r>
            <a:r>
              <a:rPr lang="pt-BR" sz="7200">
                <a:solidFill>
                  <a:schemeClr val="accent2"/>
                </a:solidFill>
              </a:rPr>
              <a:t> 6.</a:t>
            </a:r>
            <a:endParaRPr sz="72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600">
                <a:latin typeface="Raleway Medium"/>
                <a:ea typeface="Raleway Medium"/>
                <a:cs typeface="Raleway Medium"/>
                <a:sym typeface="Raleway Medium"/>
              </a:rPr>
              <a:t>APLICAÇÃO OLAP E PAINEL DE BORDO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7" name="Google Shape;327;p42"/>
          <p:cNvSpPr txBox="1"/>
          <p:nvPr>
            <p:ph idx="12" type="sldNum"/>
          </p:nvPr>
        </p:nvSpPr>
        <p:spPr>
          <a:xfrm>
            <a:off x="8732250" y="4830275"/>
            <a:ext cx="41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 sz="2800">
                <a:solidFill>
                  <a:srgbClr val="434343"/>
                </a:solidFill>
              </a:rPr>
              <a:t>Consulta OLAP  </a:t>
            </a:r>
            <a:r>
              <a:rPr b="1" lang="pt-BR" sz="3600">
                <a:solidFill>
                  <a:srgbClr val="434343"/>
                </a:solidFill>
              </a:rPr>
              <a:t>1 </a:t>
            </a:r>
            <a:endParaRPr b="1" sz="4000">
              <a:solidFill>
                <a:srgbClr val="434343"/>
              </a:solidFill>
            </a:endParaRPr>
          </a:p>
        </p:txBody>
      </p:sp>
      <p:sp>
        <p:nvSpPr>
          <p:cNvPr id="333" name="Google Shape;333;p43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4" name="Google Shape;3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6375"/>
            <a:ext cx="8916574" cy="338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4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 sz="2800">
                <a:solidFill>
                  <a:srgbClr val="434343"/>
                </a:solidFill>
              </a:rPr>
              <a:t>Consulta OLAP  </a:t>
            </a:r>
            <a:r>
              <a:rPr b="1" lang="pt-BR" sz="3600">
                <a:solidFill>
                  <a:srgbClr val="434343"/>
                </a:solidFill>
              </a:rPr>
              <a:t>2 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340" name="Google Shape;340;p44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1" name="Google Shape;34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6375"/>
            <a:ext cx="8882375" cy="348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 sz="2800">
                <a:solidFill>
                  <a:srgbClr val="434343"/>
                </a:solidFill>
              </a:rPr>
              <a:t>Consulta OLAP  </a:t>
            </a:r>
            <a:r>
              <a:rPr b="1" lang="pt-BR">
                <a:solidFill>
                  <a:srgbClr val="434343"/>
                </a:solidFill>
              </a:rPr>
              <a:t>3</a:t>
            </a:r>
            <a:r>
              <a:rPr b="1" lang="pt-BR" sz="3600">
                <a:solidFill>
                  <a:srgbClr val="434343"/>
                </a:solidFill>
              </a:rPr>
              <a:t> 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347" name="Google Shape;347;p45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8" name="Google Shape;34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700" y="1334975"/>
            <a:ext cx="259080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6900" y="1346375"/>
            <a:ext cx="411480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5" name="Google Shape;355;p46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 sz="2800">
                <a:solidFill>
                  <a:srgbClr val="434343"/>
                </a:solidFill>
              </a:rPr>
              <a:t>Consulta OLAP  </a:t>
            </a:r>
            <a:r>
              <a:rPr b="1" lang="pt-BR">
                <a:solidFill>
                  <a:srgbClr val="434343"/>
                </a:solidFill>
              </a:rPr>
              <a:t>4</a:t>
            </a:r>
            <a:r>
              <a:rPr b="1" lang="pt-BR" sz="3600">
                <a:solidFill>
                  <a:srgbClr val="434343"/>
                </a:solidFill>
              </a:rPr>
              <a:t> </a:t>
            </a:r>
            <a:endParaRPr b="1">
              <a:solidFill>
                <a:srgbClr val="434343"/>
              </a:solidFill>
            </a:endParaRPr>
          </a:p>
        </p:txBody>
      </p:sp>
      <p:pic>
        <p:nvPicPr>
          <p:cNvPr id="356" name="Google Shape;3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6375"/>
            <a:ext cx="3248475" cy="177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6"/>
          <p:cNvPicPr preferRelativeResize="0"/>
          <p:nvPr/>
        </p:nvPicPr>
        <p:blipFill rotWithShape="1">
          <a:blip r:embed="rId4">
            <a:alphaModFix/>
          </a:blip>
          <a:srcRect b="0" l="0" r="0" t="16093"/>
          <a:stretch/>
        </p:blipFill>
        <p:spPr>
          <a:xfrm>
            <a:off x="3596025" y="1346375"/>
            <a:ext cx="2777825" cy="14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6"/>
          <p:cNvPicPr preferRelativeResize="0"/>
          <p:nvPr/>
        </p:nvPicPr>
        <p:blipFill rotWithShape="1">
          <a:blip r:embed="rId5">
            <a:alphaModFix/>
          </a:blip>
          <a:srcRect b="0" l="0" r="0" t="15938"/>
          <a:stretch/>
        </p:blipFill>
        <p:spPr>
          <a:xfrm>
            <a:off x="6657600" y="1471925"/>
            <a:ext cx="2436976" cy="12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3278448"/>
            <a:ext cx="3025931" cy="167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80975" y="3126050"/>
            <a:ext cx="5027349" cy="17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6" name="Google Shape;366;p47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 sz="2800">
                <a:solidFill>
                  <a:srgbClr val="434343"/>
                </a:solidFill>
              </a:rPr>
              <a:t>Consulta OLAP  </a:t>
            </a:r>
            <a:r>
              <a:rPr b="1" lang="pt-BR">
                <a:solidFill>
                  <a:srgbClr val="434343"/>
                </a:solidFill>
              </a:rPr>
              <a:t>5</a:t>
            </a:r>
            <a:r>
              <a:rPr b="1" lang="pt-BR" sz="3600">
                <a:solidFill>
                  <a:srgbClr val="434343"/>
                </a:solidFill>
              </a:rPr>
              <a:t> </a:t>
            </a:r>
            <a:endParaRPr b="1">
              <a:solidFill>
                <a:srgbClr val="434343"/>
              </a:solidFill>
            </a:endParaRPr>
          </a:p>
        </p:txBody>
      </p:sp>
      <p:pic>
        <p:nvPicPr>
          <p:cNvPr id="367" name="Google Shape;36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6375"/>
            <a:ext cx="349567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0475" y="1346375"/>
            <a:ext cx="518160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 sz="2800">
                <a:solidFill>
                  <a:srgbClr val="434343"/>
                </a:solidFill>
              </a:rPr>
              <a:t>Consulta OLAP  </a:t>
            </a:r>
            <a:r>
              <a:rPr b="1" lang="pt-BR">
                <a:solidFill>
                  <a:srgbClr val="434343"/>
                </a:solidFill>
              </a:rPr>
              <a:t>6</a:t>
            </a:r>
            <a:r>
              <a:rPr b="1" lang="pt-BR" sz="3600">
                <a:solidFill>
                  <a:srgbClr val="434343"/>
                </a:solidFill>
              </a:rPr>
              <a:t> 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374" name="Google Shape;374;p48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5" name="Google Shape;37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850" y="1193975"/>
            <a:ext cx="342900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9"/>
          <p:cNvSpPr txBox="1"/>
          <p:nvPr>
            <p:ph type="title"/>
          </p:nvPr>
        </p:nvSpPr>
        <p:spPr>
          <a:xfrm>
            <a:off x="893700" y="336575"/>
            <a:ext cx="8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 sz="2800">
                <a:solidFill>
                  <a:srgbClr val="434343"/>
                </a:solidFill>
              </a:rPr>
              <a:t>Consulta OLAP  </a:t>
            </a:r>
            <a:r>
              <a:rPr b="1" lang="pt-BR">
                <a:solidFill>
                  <a:srgbClr val="434343"/>
                </a:solidFill>
              </a:rPr>
              <a:t>7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381" name="Google Shape;381;p49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82" name="Google Shape;38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338" y="1380600"/>
            <a:ext cx="6029325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0"/>
          <p:cNvSpPr txBox="1"/>
          <p:nvPr>
            <p:ph idx="1" type="body"/>
          </p:nvPr>
        </p:nvSpPr>
        <p:spPr>
          <a:xfrm>
            <a:off x="893700" y="1373600"/>
            <a:ext cx="6671700" cy="3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/>
              <a:t>1 - Dados Fontes  (Abertos).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200"/>
              <a:t>2- </a:t>
            </a:r>
            <a:r>
              <a:rPr lang="pt-BR" sz="1400"/>
              <a:t>DEMO, P.; SILVA, R. A.; MINAYO, M. C. S. Resultados do IDEB-2019 sugerem avanço no Ensino Médio. Revista Educar Mais, 2021.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</p:txBody>
      </p:sp>
      <p:sp>
        <p:nvSpPr>
          <p:cNvPr id="388" name="Google Shape;388;p50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pt-BR">
                <a:solidFill>
                  <a:srgbClr val="434343"/>
                </a:solidFill>
              </a:rPr>
              <a:t>Referências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389" name="Google Shape;389;p50"/>
          <p:cNvSpPr txBox="1"/>
          <p:nvPr>
            <p:ph idx="12" type="sldNum"/>
          </p:nvPr>
        </p:nvSpPr>
        <p:spPr>
          <a:xfrm>
            <a:off x="8595300" y="4732008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